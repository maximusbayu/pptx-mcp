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chivo Black" charset="1" panose="020B0A03020202020B04"/>
      <p:regular r:id="rId16"/>
    </p:embeddedFont>
    <p:embeddedFont>
      <p:font typeface="Poppins" charset="1" panose="00000500000000000000"/>
      <p:regular r:id="rId17"/>
    </p:embeddedFont>
    <p:embeddedFont>
      <p:font typeface="Poppins Bold" charset="1" panose="000008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78016" y="3322878"/>
            <a:ext cx="12731968" cy="4009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842"/>
              </a:lnSpc>
            </a:pPr>
            <a:r>
              <a:rPr lang="en-US" sz="18553" spc="-463">
                <a:solidFill>
                  <a:srgbClr val="292B2D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THESIS  DEFENSE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342602" cy="378826"/>
          </a:xfrm>
          <a:custGeom>
            <a:avLst/>
            <a:gdLst/>
            <a:ahLst/>
            <a:cxnLst/>
            <a:rect r="r" b="b" t="t" l="l"/>
            <a:pathLst>
              <a:path h="378826" w="342602">
                <a:moveTo>
                  <a:pt x="0" y="0"/>
                </a:moveTo>
                <a:lnTo>
                  <a:pt x="342602" y="0"/>
                </a:lnTo>
                <a:lnTo>
                  <a:pt x="342602" y="378826"/>
                </a:lnTo>
                <a:lnTo>
                  <a:pt x="0" y="3788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23051" y="7041638"/>
            <a:ext cx="13241898" cy="495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0"/>
              </a:lnSpc>
              <a:spcBef>
                <a:spcPct val="0"/>
              </a:spcBef>
            </a:pPr>
            <a:r>
              <a:rPr lang="en-US" sz="2714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An Empi</a:t>
            </a:r>
            <a:r>
              <a:rPr lang="en-US" sz="2714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rical Study of Operati</a:t>
            </a:r>
            <a:r>
              <a:rPr lang="en-US" sz="2714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onal Excellence in Global Consulting Firms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625767" y="962025"/>
            <a:ext cx="5633533" cy="42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399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resented by James Porter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21165" y="1001868"/>
            <a:ext cx="5401098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Northline Group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338393" y="7742704"/>
            <a:ext cx="3047234" cy="4802231"/>
          </a:xfrm>
          <a:custGeom>
            <a:avLst/>
            <a:gdLst/>
            <a:ahLst/>
            <a:cxnLst/>
            <a:rect r="r" b="b" t="t" l="l"/>
            <a:pathLst>
              <a:path h="4802231" w="3047234">
                <a:moveTo>
                  <a:pt x="0" y="0"/>
                </a:moveTo>
                <a:lnTo>
                  <a:pt x="3047234" y="0"/>
                </a:lnTo>
                <a:lnTo>
                  <a:pt x="3047234" y="4802232"/>
                </a:lnTo>
                <a:lnTo>
                  <a:pt x="0" y="48022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2708841" y="9069678"/>
            <a:ext cx="13056108" cy="0"/>
          </a:xfrm>
          <a:prstGeom prst="line">
            <a:avLst/>
          </a:prstGeom>
          <a:ln cap="flat" w="19050">
            <a:solidFill>
              <a:srgbClr val="292B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5764949" y="8823905"/>
            <a:ext cx="1494351" cy="42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 spc="919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2026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5400000">
            <a:off x="15845881" y="4171849"/>
            <a:ext cx="1880002" cy="946837"/>
          </a:xfrm>
          <a:custGeom>
            <a:avLst/>
            <a:gdLst/>
            <a:ahLst/>
            <a:cxnLst/>
            <a:rect r="r" b="b" t="t" l="l"/>
            <a:pathLst>
              <a:path h="946837" w="1880002">
                <a:moveTo>
                  <a:pt x="0" y="0"/>
                </a:moveTo>
                <a:lnTo>
                  <a:pt x="1880001" y="0"/>
                </a:lnTo>
                <a:lnTo>
                  <a:pt x="1880001" y="946837"/>
                </a:lnTo>
                <a:lnTo>
                  <a:pt x="0" y="9468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3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-5400000">
            <a:off x="581164" y="4171849"/>
            <a:ext cx="1880002" cy="946837"/>
          </a:xfrm>
          <a:custGeom>
            <a:avLst/>
            <a:gdLst/>
            <a:ahLst/>
            <a:cxnLst/>
            <a:rect r="r" b="b" t="t" l="l"/>
            <a:pathLst>
              <a:path h="946837" w="1880002">
                <a:moveTo>
                  <a:pt x="1880002" y="946837"/>
                </a:moveTo>
                <a:lnTo>
                  <a:pt x="0" y="946837"/>
                </a:lnTo>
                <a:lnTo>
                  <a:pt x="0" y="0"/>
                </a:lnTo>
                <a:lnTo>
                  <a:pt x="1880002" y="0"/>
                </a:lnTo>
                <a:lnTo>
                  <a:pt x="1880002" y="946837"/>
                </a:lnTo>
                <a:close/>
              </a:path>
            </a:pathLst>
          </a:custGeom>
          <a:blipFill>
            <a:blip r:embed="rId6">
              <a:alphaModFix amt="43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342602" cy="378826"/>
          </a:xfrm>
          <a:custGeom>
            <a:avLst/>
            <a:gdLst/>
            <a:ahLst/>
            <a:cxnLst/>
            <a:rect r="r" b="b" t="t" l="l"/>
            <a:pathLst>
              <a:path h="378826" w="342602">
                <a:moveTo>
                  <a:pt x="0" y="0"/>
                </a:moveTo>
                <a:lnTo>
                  <a:pt x="342602" y="0"/>
                </a:lnTo>
                <a:lnTo>
                  <a:pt x="342602" y="378826"/>
                </a:lnTo>
                <a:lnTo>
                  <a:pt x="0" y="3788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625767" y="962025"/>
            <a:ext cx="5633533" cy="42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399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resented by James Porter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21165" y="1001868"/>
            <a:ext cx="5401098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Northline Group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338393" y="8762515"/>
            <a:ext cx="3047234" cy="4802231"/>
          </a:xfrm>
          <a:custGeom>
            <a:avLst/>
            <a:gdLst/>
            <a:ahLst/>
            <a:cxnLst/>
            <a:rect r="r" b="b" t="t" l="l"/>
            <a:pathLst>
              <a:path h="4802231" w="3047234">
                <a:moveTo>
                  <a:pt x="0" y="0"/>
                </a:moveTo>
                <a:lnTo>
                  <a:pt x="3047234" y="0"/>
                </a:lnTo>
                <a:lnTo>
                  <a:pt x="3047234" y="4802231"/>
                </a:lnTo>
                <a:lnTo>
                  <a:pt x="0" y="48022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 flipV="true">
            <a:off x="2708841" y="9069678"/>
            <a:ext cx="13056108" cy="0"/>
          </a:xfrm>
          <a:prstGeom prst="line">
            <a:avLst/>
          </a:prstGeom>
          <a:ln cap="flat" w="19050">
            <a:solidFill>
              <a:srgbClr val="292B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5764949" y="8823905"/>
            <a:ext cx="1494351" cy="42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 spc="919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2026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662199" y="3800852"/>
            <a:ext cx="5260064" cy="998106"/>
            <a:chOff x="0" y="0"/>
            <a:chExt cx="1742104" cy="3305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42104" cy="330567"/>
            </a:xfrm>
            <a:custGeom>
              <a:avLst/>
              <a:gdLst/>
              <a:ahLst/>
              <a:cxnLst/>
              <a:rect r="r" b="b" t="t" l="l"/>
              <a:pathLst>
                <a:path h="330567" w="1742104">
                  <a:moveTo>
                    <a:pt x="0" y="0"/>
                  </a:moveTo>
                  <a:lnTo>
                    <a:pt x="1742104" y="0"/>
                  </a:lnTo>
                  <a:lnTo>
                    <a:pt x="1742104" y="330567"/>
                  </a:lnTo>
                  <a:lnTo>
                    <a:pt x="0" y="330567"/>
                  </a:lnTo>
                  <a:close/>
                </a:path>
              </a:pathLst>
            </a:custGeom>
            <a:ln w="9525" cap="sq">
              <a:solidFill>
                <a:srgbClr val="292B2D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742104" cy="368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47837" y="3800852"/>
            <a:ext cx="769528" cy="998106"/>
            <a:chOff x="0" y="0"/>
            <a:chExt cx="254863" cy="3305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4863" cy="330567"/>
            </a:xfrm>
            <a:custGeom>
              <a:avLst/>
              <a:gdLst/>
              <a:ahLst/>
              <a:cxnLst/>
              <a:rect r="r" b="b" t="t" l="l"/>
              <a:pathLst>
                <a:path h="330567" w="254863">
                  <a:moveTo>
                    <a:pt x="0" y="0"/>
                  </a:moveTo>
                  <a:lnTo>
                    <a:pt x="254863" y="0"/>
                  </a:lnTo>
                  <a:lnTo>
                    <a:pt x="254863" y="330567"/>
                  </a:lnTo>
                  <a:lnTo>
                    <a:pt x="0" y="330567"/>
                  </a:lnTo>
                  <a:close/>
                </a:path>
              </a:pathLst>
            </a:custGeom>
            <a:solidFill>
              <a:srgbClr val="292B2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54863" cy="368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078308" y="4054133"/>
            <a:ext cx="3421440" cy="424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 spc="-182">
                <a:solidFill>
                  <a:srgbClr val="292B2D"/>
                </a:solidFill>
                <a:latin typeface="Poppins Bold"/>
                <a:ea typeface="Poppins Bold"/>
                <a:cs typeface="Poppins Bold"/>
                <a:sym typeface="Poppins Bold"/>
              </a:rPr>
              <a:t>Research Background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662199" y="5008228"/>
            <a:ext cx="5260064" cy="998106"/>
            <a:chOff x="0" y="0"/>
            <a:chExt cx="1742104" cy="33056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42104" cy="330567"/>
            </a:xfrm>
            <a:custGeom>
              <a:avLst/>
              <a:gdLst/>
              <a:ahLst/>
              <a:cxnLst/>
              <a:rect r="r" b="b" t="t" l="l"/>
              <a:pathLst>
                <a:path h="330567" w="1742104">
                  <a:moveTo>
                    <a:pt x="0" y="0"/>
                  </a:moveTo>
                  <a:lnTo>
                    <a:pt x="1742104" y="0"/>
                  </a:lnTo>
                  <a:lnTo>
                    <a:pt x="1742104" y="330567"/>
                  </a:lnTo>
                  <a:lnTo>
                    <a:pt x="0" y="330567"/>
                  </a:lnTo>
                  <a:close/>
                </a:path>
              </a:pathLst>
            </a:custGeom>
            <a:ln w="9525" cap="sq">
              <a:solidFill>
                <a:srgbClr val="292B2D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742104" cy="368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47837" y="5008228"/>
            <a:ext cx="769528" cy="998106"/>
            <a:chOff x="0" y="0"/>
            <a:chExt cx="254863" cy="33056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4863" cy="330567"/>
            </a:xfrm>
            <a:custGeom>
              <a:avLst/>
              <a:gdLst/>
              <a:ahLst/>
              <a:cxnLst/>
              <a:rect r="r" b="b" t="t" l="l"/>
              <a:pathLst>
                <a:path h="330567" w="254863">
                  <a:moveTo>
                    <a:pt x="0" y="0"/>
                  </a:moveTo>
                  <a:lnTo>
                    <a:pt x="254863" y="0"/>
                  </a:lnTo>
                  <a:lnTo>
                    <a:pt x="254863" y="330567"/>
                  </a:lnTo>
                  <a:lnTo>
                    <a:pt x="0" y="330567"/>
                  </a:lnTo>
                  <a:close/>
                </a:path>
              </a:pathLst>
            </a:custGeom>
            <a:solidFill>
              <a:srgbClr val="292B2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54863" cy="368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078308" y="5261509"/>
            <a:ext cx="3421440" cy="424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-182" b="true">
                <a:solidFill>
                  <a:srgbClr val="292B2D"/>
                </a:solidFill>
                <a:latin typeface="Poppins Bold"/>
                <a:ea typeface="Poppins Bold"/>
                <a:cs typeface="Poppins Bold"/>
                <a:sym typeface="Poppins Bold"/>
              </a:rPr>
              <a:t>Probl</a:t>
            </a:r>
            <a:r>
              <a:rPr lang="en-US" b="true" sz="2400" spc="-182">
                <a:solidFill>
                  <a:srgbClr val="292B2D"/>
                </a:solidFill>
                <a:latin typeface="Poppins Bold"/>
                <a:ea typeface="Poppins Bold"/>
                <a:cs typeface="Poppins Bold"/>
                <a:sym typeface="Poppins Bold"/>
              </a:rPr>
              <a:t>em Identification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662199" y="6215605"/>
            <a:ext cx="5260064" cy="998106"/>
            <a:chOff x="0" y="0"/>
            <a:chExt cx="1742104" cy="33056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742104" cy="330567"/>
            </a:xfrm>
            <a:custGeom>
              <a:avLst/>
              <a:gdLst/>
              <a:ahLst/>
              <a:cxnLst/>
              <a:rect r="r" b="b" t="t" l="l"/>
              <a:pathLst>
                <a:path h="330567" w="1742104">
                  <a:moveTo>
                    <a:pt x="0" y="0"/>
                  </a:moveTo>
                  <a:lnTo>
                    <a:pt x="1742104" y="0"/>
                  </a:lnTo>
                  <a:lnTo>
                    <a:pt x="1742104" y="330567"/>
                  </a:lnTo>
                  <a:lnTo>
                    <a:pt x="0" y="330567"/>
                  </a:lnTo>
                  <a:close/>
                </a:path>
              </a:pathLst>
            </a:custGeom>
            <a:ln w="9525" cap="sq">
              <a:solidFill>
                <a:srgbClr val="292B2D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742104" cy="368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28700" y="6215605"/>
            <a:ext cx="769528" cy="998106"/>
            <a:chOff x="0" y="0"/>
            <a:chExt cx="254863" cy="33056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54863" cy="330567"/>
            </a:xfrm>
            <a:custGeom>
              <a:avLst/>
              <a:gdLst/>
              <a:ahLst/>
              <a:cxnLst/>
              <a:rect r="r" b="b" t="t" l="l"/>
              <a:pathLst>
                <a:path h="330567" w="254863">
                  <a:moveTo>
                    <a:pt x="0" y="0"/>
                  </a:moveTo>
                  <a:lnTo>
                    <a:pt x="254863" y="0"/>
                  </a:lnTo>
                  <a:lnTo>
                    <a:pt x="254863" y="330567"/>
                  </a:lnTo>
                  <a:lnTo>
                    <a:pt x="0" y="330567"/>
                  </a:lnTo>
                  <a:close/>
                </a:path>
              </a:pathLst>
            </a:custGeom>
            <a:solidFill>
              <a:srgbClr val="292B2D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54863" cy="368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2078308" y="6468886"/>
            <a:ext cx="3737932" cy="424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-182" b="true">
                <a:solidFill>
                  <a:srgbClr val="292B2D"/>
                </a:solidFill>
                <a:latin typeface="Poppins Bold"/>
                <a:ea typeface="Poppins Bold"/>
                <a:cs typeface="Poppins Bold"/>
                <a:sym typeface="Poppins Bold"/>
              </a:rPr>
              <a:t>Literature Revi</a:t>
            </a:r>
            <a:r>
              <a:rPr lang="en-US" b="true" sz="2400" spc="-182">
                <a:solidFill>
                  <a:srgbClr val="292B2D"/>
                </a:solidFill>
                <a:latin typeface="Poppins Bold"/>
                <a:ea typeface="Poppins Bold"/>
                <a:cs typeface="Poppins Bold"/>
                <a:sym typeface="Poppins Bold"/>
              </a:rPr>
              <a:t>ew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662199" y="7422981"/>
            <a:ext cx="5260064" cy="998106"/>
            <a:chOff x="0" y="0"/>
            <a:chExt cx="1742104" cy="33056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742104" cy="330567"/>
            </a:xfrm>
            <a:custGeom>
              <a:avLst/>
              <a:gdLst/>
              <a:ahLst/>
              <a:cxnLst/>
              <a:rect r="r" b="b" t="t" l="l"/>
              <a:pathLst>
                <a:path h="330567" w="1742104">
                  <a:moveTo>
                    <a:pt x="0" y="0"/>
                  </a:moveTo>
                  <a:lnTo>
                    <a:pt x="1742104" y="0"/>
                  </a:lnTo>
                  <a:lnTo>
                    <a:pt x="1742104" y="330567"/>
                  </a:lnTo>
                  <a:lnTo>
                    <a:pt x="0" y="330567"/>
                  </a:lnTo>
                  <a:close/>
                </a:path>
              </a:pathLst>
            </a:custGeom>
            <a:ln w="9525" cap="sq">
              <a:solidFill>
                <a:srgbClr val="292B2D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742104" cy="368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28700" y="7422981"/>
            <a:ext cx="769528" cy="998106"/>
            <a:chOff x="0" y="0"/>
            <a:chExt cx="254863" cy="33056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54863" cy="330567"/>
            </a:xfrm>
            <a:custGeom>
              <a:avLst/>
              <a:gdLst/>
              <a:ahLst/>
              <a:cxnLst/>
              <a:rect r="r" b="b" t="t" l="l"/>
              <a:pathLst>
                <a:path h="330567" w="254863">
                  <a:moveTo>
                    <a:pt x="0" y="0"/>
                  </a:moveTo>
                  <a:lnTo>
                    <a:pt x="254863" y="0"/>
                  </a:lnTo>
                  <a:lnTo>
                    <a:pt x="254863" y="330567"/>
                  </a:lnTo>
                  <a:lnTo>
                    <a:pt x="0" y="330567"/>
                  </a:lnTo>
                  <a:close/>
                </a:path>
              </a:pathLst>
            </a:custGeom>
            <a:solidFill>
              <a:srgbClr val="292B2D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54863" cy="368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2078308" y="7676262"/>
            <a:ext cx="3878596" cy="424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-182" b="true">
                <a:solidFill>
                  <a:srgbClr val="292B2D"/>
                </a:solidFill>
                <a:latin typeface="Poppins Bold"/>
                <a:ea typeface="Poppins Bold"/>
                <a:cs typeface="Poppins Bold"/>
                <a:sym typeface="Poppins Bold"/>
              </a:rPr>
              <a:t>M</a:t>
            </a:r>
            <a:r>
              <a:rPr lang="en-US" b="true" sz="2400" spc="-182">
                <a:solidFill>
                  <a:srgbClr val="292B2D"/>
                </a:solidFill>
                <a:latin typeface="Poppins Bold"/>
                <a:ea typeface="Poppins Bold"/>
                <a:cs typeface="Poppins Bold"/>
                <a:sym typeface="Poppins Bold"/>
              </a:rPr>
              <a:t>ethodology Framework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223450" y="3800852"/>
            <a:ext cx="5418998" cy="998106"/>
            <a:chOff x="0" y="0"/>
            <a:chExt cx="1794742" cy="33056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794742" cy="330567"/>
            </a:xfrm>
            <a:custGeom>
              <a:avLst/>
              <a:gdLst/>
              <a:ahLst/>
              <a:cxnLst/>
              <a:rect r="r" b="b" t="t" l="l"/>
              <a:pathLst>
                <a:path h="330567" w="1794742">
                  <a:moveTo>
                    <a:pt x="0" y="0"/>
                  </a:moveTo>
                  <a:lnTo>
                    <a:pt x="1794742" y="0"/>
                  </a:lnTo>
                  <a:lnTo>
                    <a:pt x="1794742" y="330567"/>
                  </a:lnTo>
                  <a:lnTo>
                    <a:pt x="0" y="330567"/>
                  </a:lnTo>
                  <a:close/>
                </a:path>
              </a:pathLst>
            </a:custGeom>
            <a:ln w="9525" cap="sq">
              <a:solidFill>
                <a:srgbClr val="292B2D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794742" cy="368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609087" y="3800852"/>
            <a:ext cx="769528" cy="998106"/>
            <a:chOff x="0" y="0"/>
            <a:chExt cx="254863" cy="33056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54863" cy="330567"/>
            </a:xfrm>
            <a:custGeom>
              <a:avLst/>
              <a:gdLst/>
              <a:ahLst/>
              <a:cxnLst/>
              <a:rect r="r" b="b" t="t" l="l"/>
              <a:pathLst>
                <a:path h="330567" w="254863">
                  <a:moveTo>
                    <a:pt x="0" y="0"/>
                  </a:moveTo>
                  <a:lnTo>
                    <a:pt x="254863" y="0"/>
                  </a:lnTo>
                  <a:lnTo>
                    <a:pt x="254863" y="330567"/>
                  </a:lnTo>
                  <a:lnTo>
                    <a:pt x="0" y="330567"/>
                  </a:lnTo>
                  <a:close/>
                </a:path>
              </a:pathLst>
            </a:custGeom>
            <a:solidFill>
              <a:srgbClr val="292B2D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254863" cy="368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9639558" y="4054133"/>
            <a:ext cx="3421440" cy="424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-182" b="true">
                <a:solidFill>
                  <a:srgbClr val="292B2D"/>
                </a:solidFill>
                <a:latin typeface="Poppins Bold"/>
                <a:ea typeface="Poppins Bold"/>
                <a:cs typeface="Poppins Bold"/>
                <a:sym typeface="Poppins Bold"/>
              </a:rPr>
              <a:t>Qu</a:t>
            </a:r>
            <a:r>
              <a:rPr lang="en-US" b="true" sz="2400" spc="-182">
                <a:solidFill>
                  <a:srgbClr val="292B2D"/>
                </a:solidFill>
                <a:latin typeface="Poppins Bold"/>
                <a:ea typeface="Poppins Bold"/>
                <a:cs typeface="Poppins Bold"/>
                <a:sym typeface="Poppins Bold"/>
              </a:rPr>
              <a:t>antitative Analysis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9223450" y="5008228"/>
            <a:ext cx="5418998" cy="998106"/>
            <a:chOff x="0" y="0"/>
            <a:chExt cx="1794742" cy="330567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794742" cy="330567"/>
            </a:xfrm>
            <a:custGeom>
              <a:avLst/>
              <a:gdLst/>
              <a:ahLst/>
              <a:cxnLst/>
              <a:rect r="r" b="b" t="t" l="l"/>
              <a:pathLst>
                <a:path h="330567" w="1794742">
                  <a:moveTo>
                    <a:pt x="0" y="0"/>
                  </a:moveTo>
                  <a:lnTo>
                    <a:pt x="1794742" y="0"/>
                  </a:lnTo>
                  <a:lnTo>
                    <a:pt x="1794742" y="330567"/>
                  </a:lnTo>
                  <a:lnTo>
                    <a:pt x="0" y="330567"/>
                  </a:lnTo>
                  <a:close/>
                </a:path>
              </a:pathLst>
            </a:custGeom>
            <a:ln w="9525" cap="sq">
              <a:solidFill>
                <a:srgbClr val="292B2D"/>
              </a:solidFill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1794742" cy="368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8609087" y="5008228"/>
            <a:ext cx="769528" cy="998106"/>
            <a:chOff x="0" y="0"/>
            <a:chExt cx="254863" cy="33056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54863" cy="330567"/>
            </a:xfrm>
            <a:custGeom>
              <a:avLst/>
              <a:gdLst/>
              <a:ahLst/>
              <a:cxnLst/>
              <a:rect r="r" b="b" t="t" l="l"/>
              <a:pathLst>
                <a:path h="330567" w="254863">
                  <a:moveTo>
                    <a:pt x="0" y="0"/>
                  </a:moveTo>
                  <a:lnTo>
                    <a:pt x="254863" y="0"/>
                  </a:lnTo>
                  <a:lnTo>
                    <a:pt x="254863" y="330567"/>
                  </a:lnTo>
                  <a:lnTo>
                    <a:pt x="0" y="330567"/>
                  </a:lnTo>
                  <a:close/>
                </a:path>
              </a:pathLst>
            </a:custGeom>
            <a:solidFill>
              <a:srgbClr val="292B2D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254863" cy="368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9639558" y="5261509"/>
            <a:ext cx="3421440" cy="424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-182" b="true">
                <a:solidFill>
                  <a:srgbClr val="292B2D"/>
                </a:solidFill>
                <a:latin typeface="Poppins Bold"/>
                <a:ea typeface="Poppins Bold"/>
                <a:cs typeface="Poppins Bold"/>
                <a:sym typeface="Poppins Bold"/>
              </a:rPr>
              <a:t>Compa</a:t>
            </a:r>
            <a:r>
              <a:rPr lang="en-US" b="true" sz="2400" spc="-182">
                <a:solidFill>
                  <a:srgbClr val="292B2D"/>
                </a:solidFill>
                <a:latin typeface="Poppins Bold"/>
                <a:ea typeface="Poppins Bold"/>
                <a:cs typeface="Poppins Bold"/>
                <a:sym typeface="Poppins Bold"/>
              </a:rPr>
              <a:t>rative Data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9223450" y="6215605"/>
            <a:ext cx="5418998" cy="998106"/>
            <a:chOff x="0" y="0"/>
            <a:chExt cx="1794742" cy="330567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794742" cy="330567"/>
            </a:xfrm>
            <a:custGeom>
              <a:avLst/>
              <a:gdLst/>
              <a:ahLst/>
              <a:cxnLst/>
              <a:rect r="r" b="b" t="t" l="l"/>
              <a:pathLst>
                <a:path h="330567" w="1794742">
                  <a:moveTo>
                    <a:pt x="0" y="0"/>
                  </a:moveTo>
                  <a:lnTo>
                    <a:pt x="1794742" y="0"/>
                  </a:lnTo>
                  <a:lnTo>
                    <a:pt x="1794742" y="330567"/>
                  </a:lnTo>
                  <a:lnTo>
                    <a:pt x="0" y="330567"/>
                  </a:lnTo>
                  <a:close/>
                </a:path>
              </a:pathLst>
            </a:custGeom>
            <a:ln w="9525" cap="sq">
              <a:solidFill>
                <a:srgbClr val="292B2D"/>
              </a:solidFill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794742" cy="368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8609087" y="6215605"/>
            <a:ext cx="769528" cy="998106"/>
            <a:chOff x="0" y="0"/>
            <a:chExt cx="254863" cy="33056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54863" cy="330567"/>
            </a:xfrm>
            <a:custGeom>
              <a:avLst/>
              <a:gdLst/>
              <a:ahLst/>
              <a:cxnLst/>
              <a:rect r="r" b="b" t="t" l="l"/>
              <a:pathLst>
                <a:path h="330567" w="254863">
                  <a:moveTo>
                    <a:pt x="0" y="0"/>
                  </a:moveTo>
                  <a:lnTo>
                    <a:pt x="254863" y="0"/>
                  </a:lnTo>
                  <a:lnTo>
                    <a:pt x="254863" y="330567"/>
                  </a:lnTo>
                  <a:lnTo>
                    <a:pt x="0" y="330567"/>
                  </a:lnTo>
                  <a:close/>
                </a:path>
              </a:pathLst>
            </a:custGeom>
            <a:solidFill>
              <a:srgbClr val="292B2D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254863" cy="368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9639558" y="6468886"/>
            <a:ext cx="3421440" cy="424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-182" b="true">
                <a:solidFill>
                  <a:srgbClr val="292B2D"/>
                </a:solidFill>
                <a:latin typeface="Poppins Bold"/>
                <a:ea typeface="Poppins Bold"/>
                <a:cs typeface="Poppins Bold"/>
                <a:sym typeface="Poppins Bold"/>
              </a:rPr>
              <a:t> Strategi</a:t>
            </a:r>
            <a:r>
              <a:rPr lang="en-US" b="true" sz="2400" spc="-182">
                <a:solidFill>
                  <a:srgbClr val="292B2D"/>
                </a:solidFill>
                <a:latin typeface="Poppins Bold"/>
                <a:ea typeface="Poppins Bold"/>
                <a:cs typeface="Poppins Bold"/>
                <a:sym typeface="Poppins Bold"/>
              </a:rPr>
              <a:t>c Discussion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9223450" y="7422981"/>
            <a:ext cx="5418998" cy="998106"/>
            <a:chOff x="0" y="0"/>
            <a:chExt cx="1794742" cy="330567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794742" cy="330567"/>
            </a:xfrm>
            <a:custGeom>
              <a:avLst/>
              <a:gdLst/>
              <a:ahLst/>
              <a:cxnLst/>
              <a:rect r="r" b="b" t="t" l="l"/>
              <a:pathLst>
                <a:path h="330567" w="1794742">
                  <a:moveTo>
                    <a:pt x="0" y="0"/>
                  </a:moveTo>
                  <a:lnTo>
                    <a:pt x="1794742" y="0"/>
                  </a:lnTo>
                  <a:lnTo>
                    <a:pt x="1794742" y="330567"/>
                  </a:lnTo>
                  <a:lnTo>
                    <a:pt x="0" y="330567"/>
                  </a:lnTo>
                  <a:close/>
                </a:path>
              </a:pathLst>
            </a:custGeom>
            <a:ln w="9525" cap="sq">
              <a:solidFill>
                <a:srgbClr val="292B2D"/>
              </a:solidFill>
              <a:prstDash val="solid"/>
              <a:miter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1794742" cy="368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8609087" y="7422981"/>
            <a:ext cx="769528" cy="998106"/>
            <a:chOff x="0" y="0"/>
            <a:chExt cx="254863" cy="33056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54863" cy="330567"/>
            </a:xfrm>
            <a:custGeom>
              <a:avLst/>
              <a:gdLst/>
              <a:ahLst/>
              <a:cxnLst/>
              <a:rect r="r" b="b" t="t" l="l"/>
              <a:pathLst>
                <a:path h="330567" w="254863">
                  <a:moveTo>
                    <a:pt x="0" y="0"/>
                  </a:moveTo>
                  <a:lnTo>
                    <a:pt x="254863" y="0"/>
                  </a:lnTo>
                  <a:lnTo>
                    <a:pt x="254863" y="330567"/>
                  </a:lnTo>
                  <a:lnTo>
                    <a:pt x="0" y="330567"/>
                  </a:lnTo>
                  <a:close/>
                </a:path>
              </a:pathLst>
            </a:custGeom>
            <a:solidFill>
              <a:srgbClr val="292B2D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254863" cy="368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9639558" y="7676262"/>
            <a:ext cx="3421440" cy="424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-182" b="true">
                <a:solidFill>
                  <a:srgbClr val="292B2D"/>
                </a:solidFill>
                <a:latin typeface="Poppins Bold"/>
                <a:ea typeface="Poppins Bold"/>
                <a:cs typeface="Poppins Bold"/>
                <a:sym typeface="Poppins Bold"/>
              </a:rPr>
              <a:t>C</a:t>
            </a:r>
            <a:r>
              <a:rPr lang="en-US" b="true" sz="2400" spc="-182">
                <a:solidFill>
                  <a:srgbClr val="292B2D"/>
                </a:solidFill>
                <a:latin typeface="Poppins Bold"/>
                <a:ea typeface="Poppins Bold"/>
                <a:cs typeface="Poppins Bold"/>
                <a:sym typeface="Poppins Bold"/>
              </a:rPr>
              <a:t>onclusion &amp; Policy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051726" y="4003333"/>
            <a:ext cx="761750" cy="516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b="true" sz="2899" spc="-220">
                <a:solidFill>
                  <a:srgbClr val="F6F4F1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051726" y="5210709"/>
            <a:ext cx="761750" cy="516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b="true" sz="2899" spc="-220">
                <a:solidFill>
                  <a:srgbClr val="F6F4F1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032589" y="6418085"/>
            <a:ext cx="761750" cy="516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b="true" sz="2899" spc="-220">
                <a:solidFill>
                  <a:srgbClr val="F6F4F1"/>
                </a:solidFill>
                <a:latin typeface="Poppins Bold"/>
                <a:ea typeface="Poppins Bold"/>
                <a:cs typeface="Poppins Bold"/>
                <a:sym typeface="Poppins Bold"/>
              </a:rPr>
              <a:t>05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032589" y="7625462"/>
            <a:ext cx="761750" cy="516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b="true" sz="2899" spc="-220">
                <a:solidFill>
                  <a:srgbClr val="F6F4F1"/>
                </a:solidFill>
                <a:latin typeface="Poppins Bold"/>
                <a:ea typeface="Poppins Bold"/>
                <a:cs typeface="Poppins Bold"/>
                <a:sym typeface="Poppins Bold"/>
              </a:rPr>
              <a:t>06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8616865" y="7625462"/>
            <a:ext cx="761750" cy="516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b="true" sz="2899" spc="-220">
                <a:solidFill>
                  <a:srgbClr val="F6F4F1"/>
                </a:solidFill>
                <a:latin typeface="Poppins Bold"/>
                <a:ea typeface="Poppins Bold"/>
                <a:cs typeface="Poppins Bold"/>
                <a:sym typeface="Poppins Bold"/>
              </a:rPr>
              <a:t>10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8620634" y="4003333"/>
            <a:ext cx="761750" cy="516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b="true" sz="2899" spc="-220">
                <a:solidFill>
                  <a:srgbClr val="F6F4F1"/>
                </a:solidFill>
                <a:latin typeface="Poppins Bold"/>
                <a:ea typeface="Poppins Bold"/>
                <a:cs typeface="Poppins Bold"/>
                <a:sym typeface="Poppins Bold"/>
              </a:rPr>
              <a:t>07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8620634" y="5202444"/>
            <a:ext cx="761750" cy="516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b="true" sz="2899" spc="-220">
                <a:solidFill>
                  <a:srgbClr val="F6F4F1"/>
                </a:solidFill>
                <a:latin typeface="Poppins Bold"/>
                <a:ea typeface="Poppins Bold"/>
                <a:cs typeface="Poppins Bold"/>
                <a:sym typeface="Poppins Bold"/>
              </a:rPr>
              <a:t>08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8620634" y="6418085"/>
            <a:ext cx="761750" cy="516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b="true" sz="2899" spc="-220">
                <a:solidFill>
                  <a:srgbClr val="F6F4F1"/>
                </a:solidFill>
                <a:latin typeface="Poppins Bold"/>
                <a:ea typeface="Poppins Bold"/>
                <a:cs typeface="Poppins Bold"/>
                <a:sym typeface="Poppins Bold"/>
              </a:rPr>
              <a:t>09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028700" y="2384755"/>
            <a:ext cx="7517919" cy="930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00"/>
              </a:lnSpc>
            </a:pPr>
            <a:r>
              <a:rPr lang="en-US" sz="8000" spc="-200">
                <a:solidFill>
                  <a:srgbClr val="292B2D"/>
                </a:solidFill>
                <a:latin typeface="Archivo Black"/>
                <a:ea typeface="Archivo Black"/>
                <a:cs typeface="Archivo Black"/>
                <a:sym typeface="Archivo Black"/>
              </a:rPr>
              <a:t>OVERVIEW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342602" cy="378826"/>
          </a:xfrm>
          <a:custGeom>
            <a:avLst/>
            <a:gdLst/>
            <a:ahLst/>
            <a:cxnLst/>
            <a:rect r="r" b="b" t="t" l="l"/>
            <a:pathLst>
              <a:path h="378826" w="342602">
                <a:moveTo>
                  <a:pt x="0" y="0"/>
                </a:moveTo>
                <a:lnTo>
                  <a:pt x="342602" y="0"/>
                </a:lnTo>
                <a:lnTo>
                  <a:pt x="342602" y="378826"/>
                </a:lnTo>
                <a:lnTo>
                  <a:pt x="0" y="3788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38393" y="8762515"/>
            <a:ext cx="3047234" cy="4802231"/>
          </a:xfrm>
          <a:custGeom>
            <a:avLst/>
            <a:gdLst/>
            <a:ahLst/>
            <a:cxnLst/>
            <a:rect r="r" b="b" t="t" l="l"/>
            <a:pathLst>
              <a:path h="4802231" w="3047234">
                <a:moveTo>
                  <a:pt x="0" y="0"/>
                </a:moveTo>
                <a:lnTo>
                  <a:pt x="3047234" y="0"/>
                </a:lnTo>
                <a:lnTo>
                  <a:pt x="3047234" y="4802231"/>
                </a:lnTo>
                <a:lnTo>
                  <a:pt x="0" y="48022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flipV="true">
            <a:off x="2708841" y="9069678"/>
            <a:ext cx="13056108" cy="0"/>
          </a:xfrm>
          <a:prstGeom prst="line">
            <a:avLst/>
          </a:prstGeom>
          <a:ln cap="flat" w="19050">
            <a:solidFill>
              <a:srgbClr val="292B2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0853591" y="3189388"/>
            <a:ext cx="6405709" cy="4154382"/>
            <a:chOff x="0" y="0"/>
            <a:chExt cx="992412" cy="6436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92412" cy="643622"/>
            </a:xfrm>
            <a:custGeom>
              <a:avLst/>
              <a:gdLst/>
              <a:ahLst/>
              <a:cxnLst/>
              <a:rect r="r" b="b" t="t" l="l"/>
              <a:pathLst>
                <a:path h="643622" w="992412">
                  <a:moveTo>
                    <a:pt x="0" y="0"/>
                  </a:moveTo>
                  <a:lnTo>
                    <a:pt x="992412" y="0"/>
                  </a:lnTo>
                  <a:lnTo>
                    <a:pt x="992412" y="643622"/>
                  </a:lnTo>
                  <a:lnTo>
                    <a:pt x="0" y="643622"/>
                  </a:lnTo>
                  <a:close/>
                </a:path>
              </a:pathLst>
            </a:custGeom>
            <a:blipFill>
              <a:blip r:embed="rId6"/>
              <a:stretch>
                <a:fillRect l="0" t="-1443" r="0" b="-1443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1625767" y="962025"/>
            <a:ext cx="5633533" cy="42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399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resented by James Porter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21165" y="1001868"/>
            <a:ext cx="5401098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Northline Group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764949" y="8823905"/>
            <a:ext cx="1494351" cy="42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 spc="919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2026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2500" y="3181355"/>
            <a:ext cx="9627871" cy="1947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04"/>
              </a:lnSpc>
            </a:pPr>
            <a:r>
              <a:rPr lang="en-US" sz="8300" spc="-207">
                <a:solidFill>
                  <a:srgbClr val="292B2D"/>
                </a:solidFill>
                <a:latin typeface="Archivo Black"/>
                <a:ea typeface="Archivo Black"/>
                <a:cs typeface="Archivo Black"/>
                <a:sym typeface="Archivo Black"/>
              </a:rPr>
              <a:t>RESEARCH BACKGROUND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19175" y="5242772"/>
            <a:ext cx="8670334" cy="2100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2100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The modern market landscape requi</a:t>
            </a:r>
            <a:r>
              <a:rPr lang="en-US" sz="2100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res a fundamental shift in strategic management. This research investigates the intersection of operational efficiency and long-term brand sustainability within the Northline Group framework.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342602" cy="378826"/>
          </a:xfrm>
          <a:custGeom>
            <a:avLst/>
            <a:gdLst/>
            <a:ahLst/>
            <a:cxnLst/>
            <a:rect r="r" b="b" t="t" l="l"/>
            <a:pathLst>
              <a:path h="378826" w="342602">
                <a:moveTo>
                  <a:pt x="0" y="0"/>
                </a:moveTo>
                <a:lnTo>
                  <a:pt x="342602" y="0"/>
                </a:lnTo>
                <a:lnTo>
                  <a:pt x="342602" y="378826"/>
                </a:lnTo>
                <a:lnTo>
                  <a:pt x="0" y="3788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38393" y="8762515"/>
            <a:ext cx="3047234" cy="4802231"/>
          </a:xfrm>
          <a:custGeom>
            <a:avLst/>
            <a:gdLst/>
            <a:ahLst/>
            <a:cxnLst/>
            <a:rect r="r" b="b" t="t" l="l"/>
            <a:pathLst>
              <a:path h="4802231" w="3047234">
                <a:moveTo>
                  <a:pt x="0" y="0"/>
                </a:moveTo>
                <a:lnTo>
                  <a:pt x="3047234" y="0"/>
                </a:lnTo>
                <a:lnTo>
                  <a:pt x="3047234" y="4802231"/>
                </a:lnTo>
                <a:lnTo>
                  <a:pt x="0" y="48022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flipV="true">
            <a:off x="2708841" y="9069678"/>
            <a:ext cx="13056108" cy="0"/>
          </a:xfrm>
          <a:prstGeom prst="line">
            <a:avLst/>
          </a:prstGeom>
          <a:ln cap="flat" w="19050">
            <a:solidFill>
              <a:srgbClr val="292B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1625767" y="962025"/>
            <a:ext cx="5633533" cy="42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399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resented by James Porter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21165" y="1001868"/>
            <a:ext cx="5401098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Northline Group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764949" y="8823905"/>
            <a:ext cx="1494351" cy="42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 spc="919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4709" y="2804015"/>
            <a:ext cx="8690978" cy="1771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00"/>
              </a:lnSpc>
            </a:pPr>
            <a:r>
              <a:rPr lang="en-US" sz="7500" spc="-187">
                <a:solidFill>
                  <a:srgbClr val="292B2D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PROBLEM IDENTIFICATION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211897" y="2139910"/>
            <a:ext cx="6032626" cy="34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63"/>
              </a:lnSpc>
            </a:pPr>
            <a:r>
              <a:rPr lang="en-US" sz="2799" spc="-69">
                <a:solidFill>
                  <a:srgbClr val="292B2D"/>
                </a:solidFill>
                <a:latin typeface="Archivo Black"/>
                <a:ea typeface="Archivo Black"/>
                <a:cs typeface="Archivo Black"/>
                <a:sym typeface="Archivo Black"/>
              </a:rPr>
              <a:t>Core Solution Deficiency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211897" y="2443164"/>
            <a:ext cx="6047403" cy="1567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2100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Current mode</a:t>
            </a:r>
            <a:r>
              <a:rPr lang="en-US" sz="2100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ls fail to address the rapid volatility in digital-first consultancy environments.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197120" y="4484129"/>
            <a:ext cx="6032626" cy="34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63"/>
              </a:lnSpc>
            </a:pPr>
            <a:r>
              <a:rPr lang="en-US" sz="2799" spc="-69">
                <a:solidFill>
                  <a:srgbClr val="292B2D"/>
                </a:solidFill>
                <a:latin typeface="Archivo Black"/>
                <a:ea typeface="Archivo Black"/>
                <a:cs typeface="Archivo Black"/>
                <a:sym typeface="Archivo Black"/>
              </a:rPr>
              <a:t>Structural Inconsistency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197120" y="4787383"/>
            <a:ext cx="6047403" cy="1567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2100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lang="en-US" sz="2100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lack of standardized protocols leads to significant variance in project delivery success.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211897" y="6908558"/>
            <a:ext cx="6032626" cy="34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63"/>
              </a:lnSpc>
            </a:pPr>
            <a:r>
              <a:rPr lang="en-US" sz="2799" spc="-69">
                <a:solidFill>
                  <a:srgbClr val="292B2D"/>
                </a:solidFill>
                <a:latin typeface="Archivo Black"/>
                <a:ea typeface="Archivo Black"/>
                <a:cs typeface="Archivo Black"/>
                <a:sym typeface="Archivo Black"/>
              </a:rPr>
              <a:t>Scalability Barrier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211897" y="7211812"/>
            <a:ext cx="6047403" cy="1034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2100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Leg</a:t>
            </a:r>
            <a:r>
              <a:rPr lang="en-US" sz="2100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acy systems within Pathway Partners limit the expansion of integrated service modules.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28700" y="4933109"/>
            <a:ext cx="8339340" cy="3313009"/>
            <a:chOff x="0" y="0"/>
            <a:chExt cx="1208284" cy="48002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08284" cy="480021"/>
            </a:xfrm>
            <a:custGeom>
              <a:avLst/>
              <a:gdLst/>
              <a:ahLst/>
              <a:cxnLst/>
              <a:rect r="r" b="b" t="t" l="l"/>
              <a:pathLst>
                <a:path h="480021" w="1208284">
                  <a:moveTo>
                    <a:pt x="0" y="0"/>
                  </a:moveTo>
                  <a:lnTo>
                    <a:pt x="1208284" y="0"/>
                  </a:lnTo>
                  <a:lnTo>
                    <a:pt x="1208284" y="480021"/>
                  </a:lnTo>
                  <a:lnTo>
                    <a:pt x="0" y="480021"/>
                  </a:lnTo>
                  <a:close/>
                </a:path>
              </a:pathLst>
            </a:custGeom>
            <a:blipFill>
              <a:blip r:embed="rId6"/>
              <a:stretch>
                <a:fillRect l="0" t="-8699" r="0" b="-5911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342602" cy="378826"/>
          </a:xfrm>
          <a:custGeom>
            <a:avLst/>
            <a:gdLst/>
            <a:ahLst/>
            <a:cxnLst/>
            <a:rect r="r" b="b" t="t" l="l"/>
            <a:pathLst>
              <a:path h="378826" w="342602">
                <a:moveTo>
                  <a:pt x="0" y="0"/>
                </a:moveTo>
                <a:lnTo>
                  <a:pt x="342602" y="0"/>
                </a:lnTo>
                <a:lnTo>
                  <a:pt x="342602" y="378826"/>
                </a:lnTo>
                <a:lnTo>
                  <a:pt x="0" y="3788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38393" y="8762515"/>
            <a:ext cx="3047234" cy="4802231"/>
          </a:xfrm>
          <a:custGeom>
            <a:avLst/>
            <a:gdLst/>
            <a:ahLst/>
            <a:cxnLst/>
            <a:rect r="r" b="b" t="t" l="l"/>
            <a:pathLst>
              <a:path h="4802231" w="3047234">
                <a:moveTo>
                  <a:pt x="0" y="0"/>
                </a:moveTo>
                <a:lnTo>
                  <a:pt x="3047234" y="0"/>
                </a:lnTo>
                <a:lnTo>
                  <a:pt x="3047234" y="4802231"/>
                </a:lnTo>
                <a:lnTo>
                  <a:pt x="0" y="48022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flipV="true">
            <a:off x="2708841" y="9069678"/>
            <a:ext cx="13056108" cy="0"/>
          </a:xfrm>
          <a:prstGeom prst="line">
            <a:avLst/>
          </a:prstGeom>
          <a:ln cap="flat" w="19050">
            <a:solidFill>
              <a:srgbClr val="292B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1625767" y="962025"/>
            <a:ext cx="5633533" cy="42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399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resented by James Porter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21165" y="1001868"/>
            <a:ext cx="5401098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Northline Group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764949" y="8823905"/>
            <a:ext cx="1494351" cy="42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 spc="919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494486"/>
            <a:ext cx="7929426" cy="1771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00"/>
              </a:lnSpc>
            </a:pPr>
            <a:r>
              <a:rPr lang="en-US" sz="7500" spc="-187">
                <a:solidFill>
                  <a:srgbClr val="292B2D"/>
                </a:solidFill>
                <a:latin typeface="Archivo Black"/>
                <a:ea typeface="Archivo Black"/>
                <a:cs typeface="Archivo Black"/>
                <a:sym typeface="Archivo Black"/>
              </a:rPr>
              <a:t>LITERATURE REVIEW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371302" y="5016390"/>
            <a:ext cx="4303796" cy="3293464"/>
            <a:chOff x="0" y="0"/>
            <a:chExt cx="1017008" cy="77826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17008" cy="778262"/>
            </a:xfrm>
            <a:custGeom>
              <a:avLst/>
              <a:gdLst/>
              <a:ahLst/>
              <a:cxnLst/>
              <a:rect r="r" b="b" t="t" l="l"/>
              <a:pathLst>
                <a:path h="778262" w="1017008">
                  <a:moveTo>
                    <a:pt x="91742" y="0"/>
                  </a:moveTo>
                  <a:lnTo>
                    <a:pt x="925266" y="0"/>
                  </a:lnTo>
                  <a:cubicBezTo>
                    <a:pt x="949598" y="0"/>
                    <a:pt x="972933" y="9666"/>
                    <a:pt x="990138" y="26871"/>
                  </a:cubicBezTo>
                  <a:cubicBezTo>
                    <a:pt x="1007342" y="44075"/>
                    <a:pt x="1017008" y="67410"/>
                    <a:pt x="1017008" y="91742"/>
                  </a:cubicBezTo>
                  <a:lnTo>
                    <a:pt x="1017008" y="686520"/>
                  </a:lnTo>
                  <a:cubicBezTo>
                    <a:pt x="1017008" y="710851"/>
                    <a:pt x="1007342" y="734186"/>
                    <a:pt x="990138" y="751391"/>
                  </a:cubicBezTo>
                  <a:cubicBezTo>
                    <a:pt x="972933" y="768596"/>
                    <a:pt x="949598" y="778262"/>
                    <a:pt x="925266" y="778262"/>
                  </a:cubicBezTo>
                  <a:lnTo>
                    <a:pt x="91742" y="778262"/>
                  </a:lnTo>
                  <a:cubicBezTo>
                    <a:pt x="67410" y="778262"/>
                    <a:pt x="44075" y="768596"/>
                    <a:pt x="26871" y="751391"/>
                  </a:cubicBezTo>
                  <a:cubicBezTo>
                    <a:pt x="9666" y="734186"/>
                    <a:pt x="0" y="710851"/>
                    <a:pt x="0" y="686520"/>
                  </a:cubicBezTo>
                  <a:lnTo>
                    <a:pt x="0" y="91742"/>
                  </a:lnTo>
                  <a:cubicBezTo>
                    <a:pt x="0" y="67410"/>
                    <a:pt x="9666" y="44075"/>
                    <a:pt x="26871" y="26871"/>
                  </a:cubicBezTo>
                  <a:cubicBezTo>
                    <a:pt x="44075" y="9666"/>
                    <a:pt x="67410" y="0"/>
                    <a:pt x="91742" y="0"/>
                  </a:cubicBezTo>
                  <a:close/>
                </a:path>
              </a:pathLst>
            </a:custGeom>
            <a:ln w="19050" cap="rnd">
              <a:solidFill>
                <a:srgbClr val="292B2D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1017008" cy="854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4631738" y="5231878"/>
            <a:ext cx="590625" cy="590625"/>
          </a:xfrm>
          <a:custGeom>
            <a:avLst/>
            <a:gdLst/>
            <a:ahLst/>
            <a:cxnLst/>
            <a:rect r="r" b="b" t="t" l="l"/>
            <a:pathLst>
              <a:path h="590625" w="590625">
                <a:moveTo>
                  <a:pt x="0" y="0"/>
                </a:moveTo>
                <a:lnTo>
                  <a:pt x="590625" y="0"/>
                </a:lnTo>
                <a:lnTo>
                  <a:pt x="590625" y="590624"/>
                </a:lnTo>
                <a:lnTo>
                  <a:pt x="0" y="5906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27878" y="5830163"/>
            <a:ext cx="3590642" cy="2100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100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Ex</a:t>
            </a:r>
            <a:r>
              <a:rPr lang="en-US" sz="2100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amining the evolution of Meridian Services' organizational theory over the last decade.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925552" y="5016390"/>
            <a:ext cx="4303796" cy="3293464"/>
            <a:chOff x="0" y="0"/>
            <a:chExt cx="1017008" cy="77826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17008" cy="778262"/>
            </a:xfrm>
            <a:custGeom>
              <a:avLst/>
              <a:gdLst/>
              <a:ahLst/>
              <a:cxnLst/>
              <a:rect r="r" b="b" t="t" l="l"/>
              <a:pathLst>
                <a:path h="778262" w="1017008">
                  <a:moveTo>
                    <a:pt x="91742" y="0"/>
                  </a:moveTo>
                  <a:lnTo>
                    <a:pt x="925266" y="0"/>
                  </a:lnTo>
                  <a:cubicBezTo>
                    <a:pt x="949598" y="0"/>
                    <a:pt x="972933" y="9666"/>
                    <a:pt x="990138" y="26871"/>
                  </a:cubicBezTo>
                  <a:cubicBezTo>
                    <a:pt x="1007342" y="44075"/>
                    <a:pt x="1017008" y="67410"/>
                    <a:pt x="1017008" y="91742"/>
                  </a:cubicBezTo>
                  <a:lnTo>
                    <a:pt x="1017008" y="686520"/>
                  </a:lnTo>
                  <a:cubicBezTo>
                    <a:pt x="1017008" y="710851"/>
                    <a:pt x="1007342" y="734186"/>
                    <a:pt x="990138" y="751391"/>
                  </a:cubicBezTo>
                  <a:cubicBezTo>
                    <a:pt x="972933" y="768596"/>
                    <a:pt x="949598" y="778262"/>
                    <a:pt x="925266" y="778262"/>
                  </a:cubicBezTo>
                  <a:lnTo>
                    <a:pt x="91742" y="778262"/>
                  </a:lnTo>
                  <a:cubicBezTo>
                    <a:pt x="67410" y="778262"/>
                    <a:pt x="44075" y="768596"/>
                    <a:pt x="26871" y="751391"/>
                  </a:cubicBezTo>
                  <a:cubicBezTo>
                    <a:pt x="9666" y="734186"/>
                    <a:pt x="0" y="710851"/>
                    <a:pt x="0" y="686520"/>
                  </a:cubicBezTo>
                  <a:lnTo>
                    <a:pt x="0" y="91742"/>
                  </a:lnTo>
                  <a:cubicBezTo>
                    <a:pt x="0" y="67410"/>
                    <a:pt x="9666" y="44075"/>
                    <a:pt x="26871" y="26871"/>
                  </a:cubicBezTo>
                  <a:cubicBezTo>
                    <a:pt x="44075" y="9666"/>
                    <a:pt x="67410" y="0"/>
                    <a:pt x="91742" y="0"/>
                  </a:cubicBezTo>
                  <a:close/>
                </a:path>
              </a:pathLst>
            </a:custGeom>
            <a:ln w="19050" cap="rnd">
              <a:solidFill>
                <a:srgbClr val="292B2D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1017008" cy="854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0185989" y="5231878"/>
            <a:ext cx="590625" cy="590625"/>
          </a:xfrm>
          <a:custGeom>
            <a:avLst/>
            <a:gdLst/>
            <a:ahLst/>
            <a:cxnLst/>
            <a:rect r="r" b="b" t="t" l="l"/>
            <a:pathLst>
              <a:path h="590625" w="590625">
                <a:moveTo>
                  <a:pt x="0" y="0"/>
                </a:moveTo>
                <a:lnTo>
                  <a:pt x="590624" y="0"/>
                </a:lnTo>
                <a:lnTo>
                  <a:pt x="590624" y="590624"/>
                </a:lnTo>
                <a:lnTo>
                  <a:pt x="0" y="5906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282129" y="5830163"/>
            <a:ext cx="3590642" cy="2100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100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An</a:t>
            </a:r>
            <a:r>
              <a:rPr lang="en-US" sz="2100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alysis of the Framework Partners methodology regarding decentralized decision making.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479802" y="5016390"/>
            <a:ext cx="4303796" cy="3293464"/>
            <a:chOff x="0" y="0"/>
            <a:chExt cx="1017008" cy="77826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17008" cy="778262"/>
            </a:xfrm>
            <a:custGeom>
              <a:avLst/>
              <a:gdLst/>
              <a:ahLst/>
              <a:cxnLst/>
              <a:rect r="r" b="b" t="t" l="l"/>
              <a:pathLst>
                <a:path h="778262" w="1017008">
                  <a:moveTo>
                    <a:pt x="91742" y="0"/>
                  </a:moveTo>
                  <a:lnTo>
                    <a:pt x="925266" y="0"/>
                  </a:lnTo>
                  <a:cubicBezTo>
                    <a:pt x="949598" y="0"/>
                    <a:pt x="972933" y="9666"/>
                    <a:pt x="990138" y="26871"/>
                  </a:cubicBezTo>
                  <a:cubicBezTo>
                    <a:pt x="1007342" y="44075"/>
                    <a:pt x="1017008" y="67410"/>
                    <a:pt x="1017008" y="91742"/>
                  </a:cubicBezTo>
                  <a:lnTo>
                    <a:pt x="1017008" y="686520"/>
                  </a:lnTo>
                  <a:cubicBezTo>
                    <a:pt x="1017008" y="710851"/>
                    <a:pt x="1007342" y="734186"/>
                    <a:pt x="990138" y="751391"/>
                  </a:cubicBezTo>
                  <a:cubicBezTo>
                    <a:pt x="972933" y="768596"/>
                    <a:pt x="949598" y="778262"/>
                    <a:pt x="925266" y="778262"/>
                  </a:cubicBezTo>
                  <a:lnTo>
                    <a:pt x="91742" y="778262"/>
                  </a:lnTo>
                  <a:cubicBezTo>
                    <a:pt x="67410" y="778262"/>
                    <a:pt x="44075" y="768596"/>
                    <a:pt x="26871" y="751391"/>
                  </a:cubicBezTo>
                  <a:cubicBezTo>
                    <a:pt x="9666" y="734186"/>
                    <a:pt x="0" y="710851"/>
                    <a:pt x="0" y="686520"/>
                  </a:cubicBezTo>
                  <a:lnTo>
                    <a:pt x="0" y="91742"/>
                  </a:lnTo>
                  <a:cubicBezTo>
                    <a:pt x="0" y="67410"/>
                    <a:pt x="9666" y="44075"/>
                    <a:pt x="26871" y="26871"/>
                  </a:cubicBezTo>
                  <a:cubicBezTo>
                    <a:pt x="44075" y="9666"/>
                    <a:pt x="67410" y="0"/>
                    <a:pt x="91742" y="0"/>
                  </a:cubicBezTo>
                  <a:close/>
                </a:path>
              </a:pathLst>
            </a:custGeom>
            <a:ln w="19050" cap="rnd">
              <a:solidFill>
                <a:srgbClr val="292B2D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76200"/>
              <a:ext cx="1017008" cy="854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5740239" y="5231878"/>
            <a:ext cx="590625" cy="590625"/>
          </a:xfrm>
          <a:custGeom>
            <a:avLst/>
            <a:gdLst/>
            <a:ahLst/>
            <a:cxnLst/>
            <a:rect r="r" b="b" t="t" l="l"/>
            <a:pathLst>
              <a:path h="590625" w="590625">
                <a:moveTo>
                  <a:pt x="0" y="0"/>
                </a:moveTo>
                <a:lnTo>
                  <a:pt x="590625" y="0"/>
                </a:lnTo>
                <a:lnTo>
                  <a:pt x="590625" y="590624"/>
                </a:lnTo>
                <a:lnTo>
                  <a:pt x="0" y="5906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2836379" y="5830163"/>
            <a:ext cx="3590642" cy="2100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100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A sy</a:t>
            </a:r>
            <a:r>
              <a:rPr lang="en-US" sz="2100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nthesis of modern business consulting paradigms and their practical limitations.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342602" cy="378826"/>
          </a:xfrm>
          <a:custGeom>
            <a:avLst/>
            <a:gdLst/>
            <a:ahLst/>
            <a:cxnLst/>
            <a:rect r="r" b="b" t="t" l="l"/>
            <a:pathLst>
              <a:path h="378826" w="342602">
                <a:moveTo>
                  <a:pt x="0" y="0"/>
                </a:moveTo>
                <a:lnTo>
                  <a:pt x="342602" y="0"/>
                </a:lnTo>
                <a:lnTo>
                  <a:pt x="342602" y="378826"/>
                </a:lnTo>
                <a:lnTo>
                  <a:pt x="0" y="3788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38393" y="8762515"/>
            <a:ext cx="3047234" cy="4802231"/>
          </a:xfrm>
          <a:custGeom>
            <a:avLst/>
            <a:gdLst/>
            <a:ahLst/>
            <a:cxnLst/>
            <a:rect r="r" b="b" t="t" l="l"/>
            <a:pathLst>
              <a:path h="4802231" w="3047234">
                <a:moveTo>
                  <a:pt x="0" y="0"/>
                </a:moveTo>
                <a:lnTo>
                  <a:pt x="3047234" y="0"/>
                </a:lnTo>
                <a:lnTo>
                  <a:pt x="3047234" y="4802231"/>
                </a:lnTo>
                <a:lnTo>
                  <a:pt x="0" y="48022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flipV="true">
            <a:off x="2708841" y="9069678"/>
            <a:ext cx="13056108" cy="0"/>
          </a:xfrm>
          <a:prstGeom prst="line">
            <a:avLst/>
          </a:prstGeom>
          <a:ln cap="flat" w="19050">
            <a:solidFill>
              <a:srgbClr val="292B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1625767" y="962025"/>
            <a:ext cx="5633533" cy="42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399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resented by James Porter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21165" y="1001868"/>
            <a:ext cx="5401098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Northline Group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764949" y="8823905"/>
            <a:ext cx="1494351" cy="42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 spc="919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0125" y="2372049"/>
            <a:ext cx="8441469" cy="1971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00"/>
              </a:lnSpc>
            </a:pPr>
            <a:r>
              <a:rPr lang="en-US" sz="7500" spc="-187">
                <a:solidFill>
                  <a:srgbClr val="292B2D"/>
                </a:solidFill>
                <a:latin typeface="Archivo Black"/>
                <a:ea typeface="Archivo Black"/>
                <a:cs typeface="Archivo Black"/>
                <a:sym typeface="Archivo Black"/>
              </a:rPr>
              <a:t>QUANTITATIVE ANALYSIS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584340"/>
            <a:ext cx="6432778" cy="544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960"/>
              </a:lnSpc>
            </a:pPr>
            <a:r>
              <a:rPr lang="en-US" sz="4500" spc="-112">
                <a:solidFill>
                  <a:srgbClr val="292B2D"/>
                </a:solidFill>
                <a:latin typeface="Archivo Black"/>
                <a:ea typeface="Archivo Black"/>
                <a:cs typeface="Archivo Black"/>
                <a:sym typeface="Archivo Black"/>
              </a:rPr>
              <a:t>87%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7165618"/>
            <a:ext cx="5893563" cy="1034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2100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Success rate</a:t>
            </a:r>
            <a:r>
              <a:rPr lang="en-US" sz="2100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 observed in the controlled implementation group.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4202742"/>
            <a:ext cx="6912127" cy="1034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2100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Current mode</a:t>
            </a:r>
            <a:r>
              <a:rPr lang="en-US" sz="2100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ls fail to address the rapid volatility in digital-first consultancy environments.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900124" y="6605476"/>
            <a:ext cx="6761672" cy="544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60"/>
              </a:lnSpc>
            </a:pPr>
            <a:r>
              <a:rPr lang="en-US" sz="4500" spc="-112">
                <a:solidFill>
                  <a:srgbClr val="292B2D"/>
                </a:solidFill>
                <a:latin typeface="Archivo Black"/>
                <a:ea typeface="Archivo Black"/>
                <a:cs typeface="Archivo Black"/>
                <a:sym typeface="Archivo Black"/>
              </a:rPr>
              <a:t>42%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900124" y="7186754"/>
            <a:ext cx="6761672" cy="1034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2100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Reduction </a:t>
            </a:r>
            <a:r>
              <a:rPr lang="en-US" sz="2100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in operational waste through the proposed Union Consulting model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707856" y="2262437"/>
            <a:ext cx="7151666" cy="2974611"/>
            <a:chOff x="0" y="0"/>
            <a:chExt cx="1036203" cy="4309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36203" cy="430990"/>
            </a:xfrm>
            <a:custGeom>
              <a:avLst/>
              <a:gdLst/>
              <a:ahLst/>
              <a:cxnLst/>
              <a:rect r="r" b="b" t="t" l="l"/>
              <a:pathLst>
                <a:path h="430990" w="1036203">
                  <a:moveTo>
                    <a:pt x="0" y="0"/>
                  </a:moveTo>
                  <a:lnTo>
                    <a:pt x="1036203" y="0"/>
                  </a:lnTo>
                  <a:lnTo>
                    <a:pt x="1036203" y="430990"/>
                  </a:lnTo>
                  <a:lnTo>
                    <a:pt x="0" y="430990"/>
                  </a:lnTo>
                  <a:close/>
                </a:path>
              </a:pathLst>
            </a:custGeom>
            <a:blipFill>
              <a:blip r:embed="rId6"/>
              <a:stretch>
                <a:fillRect l="0" t="-30214" r="0" b="-30214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342602" cy="378826"/>
          </a:xfrm>
          <a:custGeom>
            <a:avLst/>
            <a:gdLst/>
            <a:ahLst/>
            <a:cxnLst/>
            <a:rect r="r" b="b" t="t" l="l"/>
            <a:pathLst>
              <a:path h="378826" w="342602">
                <a:moveTo>
                  <a:pt x="0" y="0"/>
                </a:moveTo>
                <a:lnTo>
                  <a:pt x="342602" y="0"/>
                </a:lnTo>
                <a:lnTo>
                  <a:pt x="342602" y="378826"/>
                </a:lnTo>
                <a:lnTo>
                  <a:pt x="0" y="3788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38393" y="8762515"/>
            <a:ext cx="3047234" cy="4802231"/>
          </a:xfrm>
          <a:custGeom>
            <a:avLst/>
            <a:gdLst/>
            <a:ahLst/>
            <a:cxnLst/>
            <a:rect r="r" b="b" t="t" l="l"/>
            <a:pathLst>
              <a:path h="4802231" w="3047234">
                <a:moveTo>
                  <a:pt x="0" y="0"/>
                </a:moveTo>
                <a:lnTo>
                  <a:pt x="3047234" y="0"/>
                </a:lnTo>
                <a:lnTo>
                  <a:pt x="3047234" y="4802231"/>
                </a:lnTo>
                <a:lnTo>
                  <a:pt x="0" y="48022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flipV="true">
            <a:off x="2708841" y="9069678"/>
            <a:ext cx="13056108" cy="0"/>
          </a:xfrm>
          <a:prstGeom prst="line">
            <a:avLst/>
          </a:prstGeom>
          <a:ln cap="flat" w="19050">
            <a:solidFill>
              <a:srgbClr val="292B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1625767" y="962025"/>
            <a:ext cx="5633533" cy="42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399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resented by James Porter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21165" y="1001868"/>
            <a:ext cx="5401098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Northline Group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764949" y="8823905"/>
            <a:ext cx="1494351" cy="42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 spc="919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83516" y="2509340"/>
            <a:ext cx="8441469" cy="1971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00"/>
              </a:lnSpc>
            </a:pPr>
            <a:r>
              <a:rPr lang="en-US" sz="7500" spc="-187">
                <a:solidFill>
                  <a:srgbClr val="292B2D"/>
                </a:solidFill>
                <a:latin typeface="Archivo Black"/>
                <a:ea typeface="Archivo Black"/>
                <a:cs typeface="Archivo Black"/>
                <a:sym typeface="Archivo Black"/>
              </a:rPr>
              <a:t>STRATEGIC DISCUSSION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83516" y="5033869"/>
            <a:ext cx="7151666" cy="3399752"/>
            <a:chOff x="0" y="0"/>
            <a:chExt cx="1036203" cy="49258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36203" cy="492589"/>
            </a:xfrm>
            <a:custGeom>
              <a:avLst/>
              <a:gdLst/>
              <a:ahLst/>
              <a:cxnLst/>
              <a:rect r="r" b="b" t="t" l="l"/>
              <a:pathLst>
                <a:path h="492589" w="1036203">
                  <a:moveTo>
                    <a:pt x="0" y="0"/>
                  </a:moveTo>
                  <a:lnTo>
                    <a:pt x="1036203" y="0"/>
                  </a:lnTo>
                  <a:lnTo>
                    <a:pt x="1036203" y="492589"/>
                  </a:lnTo>
                  <a:lnTo>
                    <a:pt x="0" y="492589"/>
                  </a:lnTo>
                  <a:close/>
                </a:path>
              </a:pathLst>
            </a:custGeom>
            <a:blipFill>
              <a:blip r:embed="rId6"/>
              <a:stretch>
                <a:fillRect l="0" t="-20075" r="0" b="-20075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139096" y="5799277"/>
            <a:ext cx="7572047" cy="2634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2100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The data sugg</a:t>
            </a:r>
            <a:r>
              <a:rPr lang="en-US" sz="2100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ests that the Northline Group must pivot toward an agile infrastructure. By adopting the Core Solutions protocol, the entity can mitigate risks associated with international market fluctuations while maintaining high-quality output standards.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4921191"/>
            <a:ext cx="7567143" cy="799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35"/>
              </a:lnSpc>
            </a:pPr>
            <a:r>
              <a:rPr lang="en-US" sz="2799" spc="-69">
                <a:solidFill>
                  <a:srgbClr val="292B2D"/>
                </a:solidFill>
                <a:latin typeface="Archivo Black"/>
                <a:ea typeface="Archivo Black"/>
                <a:cs typeface="Archivo Black"/>
                <a:sym typeface="Archivo Black"/>
              </a:rPr>
              <a:t>Operational Synergy and Market Resilience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342602" cy="378826"/>
          </a:xfrm>
          <a:custGeom>
            <a:avLst/>
            <a:gdLst/>
            <a:ahLst/>
            <a:cxnLst/>
            <a:rect r="r" b="b" t="t" l="l"/>
            <a:pathLst>
              <a:path h="378826" w="342602">
                <a:moveTo>
                  <a:pt x="0" y="0"/>
                </a:moveTo>
                <a:lnTo>
                  <a:pt x="342602" y="0"/>
                </a:lnTo>
                <a:lnTo>
                  <a:pt x="342602" y="378826"/>
                </a:lnTo>
                <a:lnTo>
                  <a:pt x="0" y="3788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38393" y="8762515"/>
            <a:ext cx="3047234" cy="4802231"/>
          </a:xfrm>
          <a:custGeom>
            <a:avLst/>
            <a:gdLst/>
            <a:ahLst/>
            <a:cxnLst/>
            <a:rect r="r" b="b" t="t" l="l"/>
            <a:pathLst>
              <a:path h="4802231" w="3047234">
                <a:moveTo>
                  <a:pt x="0" y="0"/>
                </a:moveTo>
                <a:lnTo>
                  <a:pt x="3047234" y="0"/>
                </a:lnTo>
                <a:lnTo>
                  <a:pt x="3047234" y="4802231"/>
                </a:lnTo>
                <a:lnTo>
                  <a:pt x="0" y="48022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flipV="true">
            <a:off x="2708841" y="9069678"/>
            <a:ext cx="13056108" cy="0"/>
          </a:xfrm>
          <a:prstGeom prst="line">
            <a:avLst/>
          </a:prstGeom>
          <a:ln cap="flat" w="19050">
            <a:solidFill>
              <a:srgbClr val="292B2D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906795" y="4183474"/>
          <a:ext cx="14280071" cy="3976915"/>
        </p:xfrm>
        <a:graphic>
          <a:graphicData uri="http://schemas.openxmlformats.org/drawingml/2006/table">
            <a:tbl>
              <a:tblPr/>
              <a:tblGrid>
                <a:gridCol w="4638048"/>
                <a:gridCol w="4144048"/>
                <a:gridCol w="5497975"/>
              </a:tblGrid>
              <a:tr h="108436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6F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6F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6F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B2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6F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6F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6F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B2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6F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6F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6F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B2D"/>
                    </a:solidFill>
                  </a:tcPr>
                </a:tc>
              </a:tr>
              <a:tr h="103580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837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837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1625767" y="962025"/>
            <a:ext cx="5633533" cy="42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399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resented by James Porter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21165" y="1001868"/>
            <a:ext cx="5401098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Northline Group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764949" y="8823905"/>
            <a:ext cx="1494351" cy="42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 spc="919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50636" y="2032120"/>
            <a:ext cx="13936230" cy="1019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00"/>
              </a:lnSpc>
            </a:pPr>
            <a:r>
              <a:rPr lang="en-US" sz="7500" spc="-187">
                <a:solidFill>
                  <a:srgbClr val="292B2D"/>
                </a:solidFill>
                <a:latin typeface="Archivo Black"/>
                <a:ea typeface="Archivo Black"/>
                <a:cs typeface="Archivo Black"/>
                <a:sym typeface="Archivo Black"/>
              </a:rPr>
              <a:t>COMPARATIVE DATA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54605" y="4642326"/>
            <a:ext cx="2906300" cy="356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52"/>
              </a:lnSpc>
            </a:pPr>
            <a:r>
              <a:rPr lang="en-US" sz="2900" spc="-72">
                <a:solidFill>
                  <a:srgbClr val="F6F4F1"/>
                </a:solidFill>
                <a:latin typeface="Archivo Black"/>
                <a:ea typeface="Archivo Black"/>
                <a:cs typeface="Archivo Black"/>
                <a:sym typeface="Archivo Black"/>
              </a:rPr>
              <a:t>Variable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99917" y="4642326"/>
            <a:ext cx="2906300" cy="356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52"/>
              </a:lnSpc>
            </a:pPr>
            <a:r>
              <a:rPr lang="en-US" sz="2900" spc="-72">
                <a:solidFill>
                  <a:srgbClr val="F6F4F1"/>
                </a:solidFill>
                <a:latin typeface="Archivo Black"/>
                <a:ea typeface="Archivo Black"/>
                <a:cs typeface="Archivo Black"/>
                <a:sym typeface="Archivo Black"/>
              </a:rPr>
              <a:t> Controlled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582986" y="4642326"/>
            <a:ext cx="3454457" cy="356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52"/>
              </a:lnSpc>
            </a:pPr>
            <a:r>
              <a:rPr lang="en-US" sz="2900" spc="-72">
                <a:solidFill>
                  <a:srgbClr val="F6F4F1"/>
                </a:solidFill>
                <a:latin typeface="Archivo Black"/>
                <a:ea typeface="Archivo Black"/>
                <a:cs typeface="Archivo Black"/>
                <a:sym typeface="Archivo Black"/>
              </a:rPr>
              <a:t>Experimental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339346" y="5405378"/>
            <a:ext cx="3736817" cy="575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2400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400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evenue Growth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39346" y="6387758"/>
            <a:ext cx="3736817" cy="575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2400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Cli</a:t>
            </a:r>
            <a:r>
              <a:rPr lang="en-US" sz="2400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ent Satisfaction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339346" y="7335610"/>
            <a:ext cx="3736817" cy="575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2400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Proj</a:t>
            </a:r>
            <a:r>
              <a:rPr lang="en-US" sz="2400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ect Turnaround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522883" y="5405378"/>
            <a:ext cx="2260367" cy="575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2400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12%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56018" y="5405378"/>
            <a:ext cx="2508394" cy="575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2400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 24%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199917" y="6387758"/>
            <a:ext cx="2906300" cy="575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2400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7.2/10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697613" y="6387758"/>
            <a:ext cx="3225204" cy="575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2400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9.1/10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697613" y="7335610"/>
            <a:ext cx="3225204" cy="575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2400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30 Days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22883" y="7335610"/>
            <a:ext cx="2260367" cy="575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2400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45 Days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217893" y="2813175"/>
            <a:ext cx="7657876" cy="676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99"/>
              </a:lnSpc>
            </a:pPr>
            <a:r>
              <a:rPr lang="en-US" sz="2899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Standard M</a:t>
            </a:r>
            <a:r>
              <a:rPr lang="en-US" sz="2899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etrics Evaluation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342602" cy="378826"/>
          </a:xfrm>
          <a:custGeom>
            <a:avLst/>
            <a:gdLst/>
            <a:ahLst/>
            <a:cxnLst/>
            <a:rect r="r" b="b" t="t" l="l"/>
            <a:pathLst>
              <a:path h="378826" w="342602">
                <a:moveTo>
                  <a:pt x="0" y="0"/>
                </a:moveTo>
                <a:lnTo>
                  <a:pt x="342602" y="0"/>
                </a:lnTo>
                <a:lnTo>
                  <a:pt x="342602" y="378826"/>
                </a:lnTo>
                <a:lnTo>
                  <a:pt x="0" y="3788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38393" y="8762515"/>
            <a:ext cx="3047234" cy="4802231"/>
          </a:xfrm>
          <a:custGeom>
            <a:avLst/>
            <a:gdLst/>
            <a:ahLst/>
            <a:cxnLst/>
            <a:rect r="r" b="b" t="t" l="l"/>
            <a:pathLst>
              <a:path h="4802231" w="3047234">
                <a:moveTo>
                  <a:pt x="0" y="0"/>
                </a:moveTo>
                <a:lnTo>
                  <a:pt x="3047234" y="0"/>
                </a:lnTo>
                <a:lnTo>
                  <a:pt x="3047234" y="4802231"/>
                </a:lnTo>
                <a:lnTo>
                  <a:pt x="0" y="48022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flipV="true">
            <a:off x="2708841" y="9069678"/>
            <a:ext cx="13056108" cy="0"/>
          </a:xfrm>
          <a:prstGeom prst="line">
            <a:avLst/>
          </a:prstGeom>
          <a:ln cap="flat" w="19050">
            <a:solidFill>
              <a:srgbClr val="292B2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018860" y="2206713"/>
            <a:ext cx="5903403" cy="6309259"/>
            <a:chOff x="0" y="0"/>
            <a:chExt cx="914592" cy="9774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4592" cy="977469"/>
            </a:xfrm>
            <a:custGeom>
              <a:avLst/>
              <a:gdLst/>
              <a:ahLst/>
              <a:cxnLst/>
              <a:rect r="r" b="b" t="t" l="l"/>
              <a:pathLst>
                <a:path h="977469" w="914592">
                  <a:moveTo>
                    <a:pt x="0" y="0"/>
                  </a:moveTo>
                  <a:lnTo>
                    <a:pt x="914592" y="0"/>
                  </a:lnTo>
                  <a:lnTo>
                    <a:pt x="914592" y="977469"/>
                  </a:lnTo>
                  <a:lnTo>
                    <a:pt x="0" y="977469"/>
                  </a:lnTo>
                  <a:close/>
                </a:path>
              </a:pathLst>
            </a:custGeom>
            <a:blipFill>
              <a:blip r:embed="rId6"/>
              <a:stretch>
                <a:fillRect l="0" t="-12302" r="0" b="-12302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1625767" y="962025"/>
            <a:ext cx="5633533" cy="42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399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resented by James Porter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21165" y="1001868"/>
            <a:ext cx="5401098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Northline Group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764949" y="8823905"/>
            <a:ext cx="1494351" cy="42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 spc="919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2026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173110" y="2435313"/>
            <a:ext cx="8737009" cy="1798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76"/>
              </a:lnSpc>
            </a:pPr>
            <a:r>
              <a:rPr lang="en-US" sz="7700" spc="-192">
                <a:solidFill>
                  <a:srgbClr val="292B2D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CONCLUSION &amp; POLICY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39785" y="5127304"/>
            <a:ext cx="8670334" cy="1034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2" indent="-226696" lvl="1">
              <a:lnSpc>
                <a:spcPts val="4200"/>
              </a:lnSpc>
              <a:buFont typeface="Arial"/>
              <a:buChar char="•"/>
            </a:pPr>
            <a:r>
              <a:rPr lang="en-US" sz="2100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The research confi</a:t>
            </a:r>
            <a:r>
              <a:rPr lang="en-US" sz="2100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rms that integrated frameworking is the primary driver of growth.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273123" y="4524277"/>
            <a:ext cx="7567143" cy="409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35"/>
              </a:lnSpc>
            </a:pPr>
            <a:r>
              <a:rPr lang="en-US" sz="2799" spc="-69">
                <a:solidFill>
                  <a:srgbClr val="292B2D"/>
                </a:solidFill>
                <a:latin typeface="Archivo Black"/>
                <a:ea typeface="Archivo Black"/>
                <a:cs typeface="Archivo Black"/>
                <a:sym typeface="Archivo Black"/>
              </a:rPr>
              <a:t>Synthesis of Research Results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39785" y="6304485"/>
            <a:ext cx="8670334" cy="1034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2" indent="-226696" lvl="1">
              <a:lnSpc>
                <a:spcPts val="4200"/>
              </a:lnSpc>
              <a:buFont typeface="Arial"/>
              <a:buChar char="•"/>
            </a:pPr>
            <a:r>
              <a:rPr lang="en-US" sz="2100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Strategic imple</a:t>
            </a:r>
            <a:r>
              <a:rPr lang="en-US" sz="2100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mentation of the Pathway Partners model increases efficiency by 30%.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239785" y="7481666"/>
            <a:ext cx="8670334" cy="1034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2" indent="-226696" lvl="1">
              <a:lnSpc>
                <a:spcPts val="4200"/>
              </a:lnSpc>
              <a:buFont typeface="Arial"/>
              <a:buChar char="•"/>
            </a:pPr>
            <a:r>
              <a:rPr lang="en-US" sz="2100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Long-te</a:t>
            </a:r>
            <a:r>
              <a:rPr lang="en-US" sz="2100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rm sustainability is achievable through constant iterative evaluation.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78016" y="3322878"/>
            <a:ext cx="12731968" cy="4009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842"/>
              </a:lnSpc>
            </a:pPr>
            <a:r>
              <a:rPr lang="en-US" sz="18553" spc="-463">
                <a:solidFill>
                  <a:srgbClr val="292B2D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 YOU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342602" cy="378826"/>
          </a:xfrm>
          <a:custGeom>
            <a:avLst/>
            <a:gdLst/>
            <a:ahLst/>
            <a:cxnLst/>
            <a:rect r="r" b="b" t="t" l="l"/>
            <a:pathLst>
              <a:path h="378826" w="342602">
                <a:moveTo>
                  <a:pt x="0" y="0"/>
                </a:moveTo>
                <a:lnTo>
                  <a:pt x="342602" y="0"/>
                </a:lnTo>
                <a:lnTo>
                  <a:pt x="342602" y="378826"/>
                </a:lnTo>
                <a:lnTo>
                  <a:pt x="0" y="3788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23051" y="7041638"/>
            <a:ext cx="13241898" cy="495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0"/>
              </a:lnSpc>
              <a:spcBef>
                <a:spcPct val="0"/>
              </a:spcBef>
            </a:pPr>
            <a:r>
              <a:rPr lang="en-US" sz="2714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We app</a:t>
            </a:r>
            <a:r>
              <a:rPr lang="en-US" sz="2714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reciate your time a</a:t>
            </a:r>
            <a:r>
              <a:rPr lang="en-US" sz="2714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nd consideration of this thesis defense.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625767" y="962025"/>
            <a:ext cx="5633533" cy="42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399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resented by James Porter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21165" y="1001868"/>
            <a:ext cx="5401098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Northline Group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338393" y="7742704"/>
            <a:ext cx="3047234" cy="4802231"/>
          </a:xfrm>
          <a:custGeom>
            <a:avLst/>
            <a:gdLst/>
            <a:ahLst/>
            <a:cxnLst/>
            <a:rect r="r" b="b" t="t" l="l"/>
            <a:pathLst>
              <a:path h="4802231" w="3047234">
                <a:moveTo>
                  <a:pt x="0" y="0"/>
                </a:moveTo>
                <a:lnTo>
                  <a:pt x="3047234" y="0"/>
                </a:lnTo>
                <a:lnTo>
                  <a:pt x="3047234" y="4802232"/>
                </a:lnTo>
                <a:lnTo>
                  <a:pt x="0" y="48022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2708841" y="9069678"/>
            <a:ext cx="13056108" cy="0"/>
          </a:xfrm>
          <a:prstGeom prst="line">
            <a:avLst/>
          </a:prstGeom>
          <a:ln cap="flat" w="19050">
            <a:solidFill>
              <a:srgbClr val="292B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5764949" y="8823905"/>
            <a:ext cx="1494351" cy="42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 spc="919">
                <a:solidFill>
                  <a:srgbClr val="292B2D"/>
                </a:solidFill>
                <a:latin typeface="Poppins"/>
                <a:ea typeface="Poppins"/>
                <a:cs typeface="Poppins"/>
                <a:sym typeface="Poppins"/>
              </a:rPr>
              <a:t>2026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5400000">
            <a:off x="15845881" y="4171849"/>
            <a:ext cx="1880002" cy="946837"/>
          </a:xfrm>
          <a:custGeom>
            <a:avLst/>
            <a:gdLst/>
            <a:ahLst/>
            <a:cxnLst/>
            <a:rect r="r" b="b" t="t" l="l"/>
            <a:pathLst>
              <a:path h="946837" w="1880002">
                <a:moveTo>
                  <a:pt x="0" y="0"/>
                </a:moveTo>
                <a:lnTo>
                  <a:pt x="1880001" y="0"/>
                </a:lnTo>
                <a:lnTo>
                  <a:pt x="1880001" y="946837"/>
                </a:lnTo>
                <a:lnTo>
                  <a:pt x="0" y="9468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3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-5400000">
            <a:off x="581164" y="4171849"/>
            <a:ext cx="1880002" cy="946837"/>
          </a:xfrm>
          <a:custGeom>
            <a:avLst/>
            <a:gdLst/>
            <a:ahLst/>
            <a:cxnLst/>
            <a:rect r="r" b="b" t="t" l="l"/>
            <a:pathLst>
              <a:path h="946837" w="1880002">
                <a:moveTo>
                  <a:pt x="1880002" y="946837"/>
                </a:moveTo>
                <a:lnTo>
                  <a:pt x="0" y="946837"/>
                </a:lnTo>
                <a:lnTo>
                  <a:pt x="0" y="0"/>
                </a:lnTo>
                <a:lnTo>
                  <a:pt x="1880002" y="0"/>
                </a:lnTo>
                <a:lnTo>
                  <a:pt x="1880002" y="946837"/>
                </a:lnTo>
                <a:close/>
              </a:path>
            </a:pathLst>
          </a:custGeom>
          <a:blipFill>
            <a:blip r:embed="rId6">
              <a:alphaModFix amt="43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DAHNFqIkVGQ</dc:identifier>
  <dcterms:modified xsi:type="dcterms:W3CDTF">2011-08-01T06:04:30Z</dcterms:modified>
  <cp:revision>1</cp:revision>
</cp:coreProperties>
</file>